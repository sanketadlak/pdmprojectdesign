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36576" cy="5143500"/>
          </a:xfrm>
          <a:prstGeom prst="rect">
            <a:avLst/>
          </a:prstGeom>
          <a:solidFill>
            <a:srgbClr val="14B8A6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PROPOSAL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TrustStack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India’s First AI-Powered DPDPA Compliance Suite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SMEs &amp; Startups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291840"/>
            <a:ext cx="2286000" cy="274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474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as a Registered Consent Manager under DPDPA 2023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389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|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Once-in-a-Decade Regulatory Moment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India’s DPDPA creates an unavoidable compliance wave — with no grace period.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9202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07008" y="1691640"/>
            <a:ext cx="502920" cy="502920"/>
          </a:xfrm>
          <a:prstGeom prst="oval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5024" y="1819656"/>
            <a:ext cx="246888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331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500K+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48640" y="2834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must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comply by May 2027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51760" y="1508760"/>
            <a:ext cx="19202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10128" y="1691640"/>
            <a:ext cx="502920" cy="502920"/>
          </a:xfrm>
          <a:prstGeom prst="oval">
            <a:avLst/>
          </a:prstGeom>
          <a:solidFill>
            <a:srgbClr val="EF444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144" y="1819656"/>
            <a:ext cx="246888" cy="2468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51760" y="2331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₹250 Cr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2651760" y="2834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penalty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violation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0" y="1508760"/>
            <a:ext cx="19202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13248" y="1691640"/>
            <a:ext cx="502920" cy="502920"/>
          </a:xfrm>
          <a:prstGeom prst="oval">
            <a:avLst/>
          </a:prstGeom>
          <a:solidFill>
            <a:srgbClr val="F59E0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1264" y="1819656"/>
            <a:ext cx="246888" cy="2468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54880" y="2331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2600" dirty="0"/>
          </a:p>
        </p:txBody>
      </p:sp>
      <p:sp>
        <p:nvSpPr>
          <p:cNvPr id="19" name="Text 14"/>
          <p:cNvSpPr/>
          <p:nvPr/>
        </p:nvSpPr>
        <p:spPr>
          <a:xfrm>
            <a:off x="4754880" y="2834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top 50 Indian sites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consent banners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858000" y="1508760"/>
            <a:ext cx="19202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516368" y="1691640"/>
            <a:ext cx="502920" cy="502920"/>
          </a:xfrm>
          <a:prstGeom prst="oval">
            <a:avLst/>
          </a:prstGeom>
          <a:solidFill>
            <a:srgbClr val="1E293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384" y="1819656"/>
            <a:ext cx="246888" cy="2468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58000" y="2331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24" name="Text 18"/>
          <p:cNvSpPr/>
          <p:nvPr/>
        </p:nvSpPr>
        <p:spPr>
          <a:xfrm>
            <a:off x="6858000" y="2834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interests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(unlike GDPR)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48640" y="3520440"/>
            <a:ext cx="8046720" cy="36576"/>
          </a:xfrm>
          <a:prstGeom prst="rect">
            <a:avLst/>
          </a:prstGeom>
          <a:solidFill>
            <a:srgbClr val="0D9488">
              <a:alpha val="7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731520" y="3465576"/>
            <a:ext cx="146304" cy="146304"/>
          </a:xfrm>
          <a:prstGeom prst="oval">
            <a:avLst/>
          </a:prstGeom>
          <a:solidFill>
            <a:srgbClr val="0D9488"/>
          </a:solidFill>
          <a:ln/>
        </p:spPr>
      </p:sp>
      <p:sp>
        <p:nvSpPr>
          <p:cNvPr id="27" name="Text 21"/>
          <p:cNvSpPr/>
          <p:nvPr/>
        </p:nvSpPr>
        <p:spPr>
          <a:xfrm>
            <a:off x="274320" y="37033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2025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notified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3474720" y="3465576"/>
            <a:ext cx="146304" cy="146304"/>
          </a:xfrm>
          <a:prstGeom prst="oval">
            <a:avLst/>
          </a:prstGeom>
          <a:solidFill>
            <a:srgbClr val="0D9488"/>
          </a:solidFill>
          <a:ln/>
        </p:spPr>
      </p:sp>
      <p:sp>
        <p:nvSpPr>
          <p:cNvPr id="29" name="Text 23"/>
          <p:cNvSpPr/>
          <p:nvPr/>
        </p:nvSpPr>
        <p:spPr>
          <a:xfrm>
            <a:off x="3017520" y="37033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2026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Mgr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6583680" y="3465576"/>
            <a:ext cx="146304" cy="146304"/>
          </a:xfrm>
          <a:prstGeom prst="oval">
            <a:avLst/>
          </a:prstGeom>
          <a:solidFill>
            <a:srgbClr val="0D9488"/>
          </a:solidFill>
          <a:ln/>
        </p:spPr>
      </p:sp>
      <p:sp>
        <p:nvSpPr>
          <p:cNvPr id="31" name="Text 25"/>
          <p:cNvSpPr/>
          <p:nvPr/>
        </p:nvSpPr>
        <p:spPr>
          <a:xfrm>
            <a:off x="6126480" y="37033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2027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enforcement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grace period)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Indian SMEs Are Unprepared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804672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51560"/>
            <a:ext cx="54864" cy="8229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216152"/>
            <a:ext cx="457200" cy="457200"/>
          </a:xfrm>
          <a:prstGeom prst="oval">
            <a:avLst/>
          </a:prstGeom>
          <a:solidFill>
            <a:srgbClr val="EF4444">
              <a:alpha val="80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335024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051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Legal Awareness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840480" y="10515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founders don’t know DPDPA exists, let alone that ALL advertising data needs explicit consent — no “legitimate interests” exception.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011680"/>
            <a:ext cx="804672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2011680"/>
            <a:ext cx="54864" cy="8229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Shape 10"/>
          <p:cNvSpPr/>
          <p:nvPr/>
        </p:nvSpPr>
        <p:spPr>
          <a:xfrm>
            <a:off x="822960" y="2176272"/>
            <a:ext cx="457200" cy="457200"/>
          </a:xfrm>
          <a:prstGeom prst="oval">
            <a:avLst/>
          </a:prstGeom>
          <a:solidFill>
            <a:srgbClr val="EF4444">
              <a:alpha val="80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2295144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08760" y="20116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Budget for Enterprise Tools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840480" y="20116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OneTrust starts at $7,500/yr. Indian SMEs have ₹2–5 lakh annual IT budgets. Pricing mismatch is 10–20x.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2971800"/>
            <a:ext cx="804672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4"/>
          <p:cNvSpPr/>
          <p:nvPr/>
        </p:nvSpPr>
        <p:spPr>
          <a:xfrm>
            <a:off x="548640" y="2971800"/>
            <a:ext cx="54864" cy="8229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Shape 15"/>
          <p:cNvSpPr/>
          <p:nvPr/>
        </p:nvSpPr>
        <p:spPr>
          <a:xfrm>
            <a:off x="822960" y="3136392"/>
            <a:ext cx="457200" cy="457200"/>
          </a:xfrm>
          <a:prstGeom prst="oval">
            <a:avLst/>
          </a:prstGeom>
          <a:solidFill>
            <a:srgbClr val="EF4444">
              <a:alpha val="80000"/>
            </a:srgbClr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255264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08760" y="2971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22-Language Mandate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3840480" y="29718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notices must match the user’s language. No global tool offers native support for Hindi, Tamil, Telugu, Marathi.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Shape 19"/>
          <p:cNvSpPr/>
          <p:nvPr/>
        </p:nvSpPr>
        <p:spPr>
          <a:xfrm>
            <a:off x="548640" y="3931920"/>
            <a:ext cx="54864" cy="8229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Shape 20"/>
          <p:cNvSpPr/>
          <p:nvPr/>
        </p:nvSpPr>
        <p:spPr>
          <a:xfrm>
            <a:off x="822960" y="4096512"/>
            <a:ext cx="457200" cy="457200"/>
          </a:xfrm>
          <a:prstGeom prst="oval">
            <a:avLst/>
          </a:prstGeom>
          <a:solidFill>
            <a:srgbClr val="EF4444">
              <a:alpha val="80000"/>
            </a:srgbClr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215384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508760" y="39319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Stack Ignored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3840480" y="39319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 (7M+ businesses), Zoho, Razorpay, WhatsApp — none integrated by global compliance tools.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Analysis: What We Updated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review of our initial proposal — gaps identified and corrected.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80467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25880"/>
            <a:ext cx="54864" cy="62179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71600"/>
            <a:ext cx="548640" cy="228600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463040" y="132588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Erasure Rule is Class-Specific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23360" y="1325880"/>
            <a:ext cx="4480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only to e-commerce (≥2Cr users), gaming (≥50L users), social media. SMEs follow general rule: erase when purpose is fulfilled. Updated all references.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039112"/>
            <a:ext cx="80467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039112"/>
            <a:ext cx="54864" cy="62179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084832"/>
            <a:ext cx="548640" cy="228600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463040" y="203911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Children’s Data (Section 9) Was Missing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23360" y="2039112"/>
            <a:ext cx="4480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verifiable parental consent requirement. No targeted ads or profiling for under-18. Critical for edtech/gaming SME clients.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752344"/>
            <a:ext cx="80467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752344"/>
            <a:ext cx="54864" cy="6217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798064"/>
            <a:ext cx="548640" cy="22860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463040" y="275234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Transfer Gap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23360" y="2752344"/>
            <a:ext cx="4480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Section 16 obligations. Indian SMEs using AWS/GCP must ensure regulator accessibility. Affects our architecture choices.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465576"/>
            <a:ext cx="80467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465576"/>
            <a:ext cx="54864" cy="62179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511296"/>
            <a:ext cx="548640" cy="228600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463040" y="3465576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Dual-Role Conflict Risk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23360" y="3465576"/>
            <a:ext cx="4480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Discovery Engine could create Data Processor role for same Data Principals. Added architectural separation (sandboxed discovery agent).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178808"/>
            <a:ext cx="80467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4178808"/>
            <a:ext cx="54864" cy="6217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224528"/>
            <a:ext cx="548640" cy="22860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463040" y="417880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Aggregator Precedent Missing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023360" y="4178808"/>
            <a:ext cx="4480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RBI’s AA framework is the closest Indian parallel for consent intermediaries. Added as strategic validation.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Gap: Global Tools vs. Indian Reality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3200400"/>
        </p:xfrm>
        <a:graphic>
          <a:graphicData uri="http://schemas.openxmlformats.org/drawingml/2006/table">
            <a:tbl>
              <a:tblPr/>
              <a:tblGrid>
                <a:gridCol w="1463040"/>
                <a:gridCol w="2011680"/>
                <a:gridCol w="2194560"/>
                <a:gridCol w="2377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Dimension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Global Tools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Indian SME Need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TrustStack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$7.5K–$50K/yr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₹2–5L IT budget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 to ₹15K/mo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Hindi, Tamil, Telugu...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scheduled languages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Salesforce, Workday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Tally, Zoho, WhatsApp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Indian stack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GDPR/CCPA-first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DPDPA-unique concepts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DPDPA-native build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privacy team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Founders wear all hats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3-min onboarding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Strategic Pivot: Registered Consent Manager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as the regulated bridge between Data Principals and Data Fiduciaries.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286000" cy="137160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6459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1031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Principal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(Individual)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1920240"/>
            <a:ext cx="320040" cy="3200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566160" y="1371600"/>
            <a:ext cx="2560320" cy="16459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50876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66160" y="20116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TrustStack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Consent Manager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3566160" y="2606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• Manage • Review • Withdraw</a:t>
            </a:r>
            <a:endParaRPr lang="en-US" sz="9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920240"/>
            <a:ext cx="320040" cy="32004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858000" y="1508760"/>
            <a:ext cx="2011680" cy="137160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1645920"/>
            <a:ext cx="411480" cy="4114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858000" y="21031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Fiduciary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(Business/SME)</a:t>
            </a:r>
            <a:endParaRPr lang="en-US" sz="12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410712"/>
            <a:ext cx="228600" cy="2286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14400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India-Incorporated Entity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914400" y="36301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Company, society, or trust</a:t>
            </a:r>
            <a:endParaRPr lang="en-US" sz="10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3410712"/>
            <a:ext cx="228600" cy="2286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120640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Net Worth: ₹2 Crore</a:t>
            </a:r>
            <a:endParaRPr lang="en-US" sz="1200" dirty="0"/>
          </a:p>
        </p:txBody>
      </p:sp>
      <p:sp>
        <p:nvSpPr>
          <p:cNvPr id="23" name="Text 14"/>
          <p:cNvSpPr/>
          <p:nvPr/>
        </p:nvSpPr>
        <p:spPr>
          <a:xfrm>
            <a:off x="5120640" y="36301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annually for inflation</a:t>
            </a:r>
            <a:endParaRPr lang="en-US" sz="10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4187952"/>
            <a:ext cx="228600" cy="2286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91440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Encryption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914400" y="44074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logging, Indian servers</a:t>
            </a:r>
            <a:endParaRPr lang="en-US" sz="10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0" y="4187952"/>
            <a:ext cx="228600" cy="22860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12064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7-Year Record Retention</a:t>
            </a:r>
            <a:endParaRPr lang="en-US" sz="1200" dirty="0"/>
          </a:p>
        </p:txBody>
      </p:sp>
      <p:sp>
        <p:nvSpPr>
          <p:cNvPr id="29" name="Text 18"/>
          <p:cNvSpPr/>
          <p:nvPr/>
        </p:nvSpPr>
        <p:spPr>
          <a:xfrm>
            <a:off x="5120640" y="44074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 consent logs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TrustStack Product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Three-module lifecycle mirrors the SME’s compliance journey.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97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2697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527048" y="1554480"/>
            <a:ext cx="640080" cy="640080"/>
          </a:xfrm>
          <a:prstGeom prst="oval">
            <a:avLst/>
          </a:prstGeom>
          <a:solidFill>
            <a:srgbClr val="F59E0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4208" y="16916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28600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48640" y="251460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Vernacular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6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46120"/>
            <a:ext cx="164592" cy="164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Jargon Slayer AI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566160"/>
            <a:ext cx="164592" cy="1645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3-Min Trust Check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886200"/>
            <a:ext cx="164592" cy="16459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4300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22-Language Support</a:t>
            </a:r>
            <a:endParaRPr lang="en-US" sz="1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206240"/>
            <a:ext cx="164592" cy="16459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4300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viral tool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3429000" y="1371600"/>
            <a:ext cx="2697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3429000" y="1371600"/>
            <a:ext cx="26974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Shape 14"/>
          <p:cNvSpPr/>
          <p:nvPr/>
        </p:nvSpPr>
        <p:spPr>
          <a:xfrm>
            <a:off x="4407408" y="1554480"/>
            <a:ext cx="640080" cy="640080"/>
          </a:xfrm>
          <a:prstGeom prst="oval">
            <a:avLst/>
          </a:prstGeom>
          <a:solidFill>
            <a:srgbClr val="0D9488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4568" y="1691640"/>
            <a:ext cx="365760" cy="36576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429000" y="228600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DRIVER</a:t>
            </a:r>
            <a:endParaRPr lang="en-US" sz="800" dirty="0"/>
          </a:p>
        </p:txBody>
      </p:sp>
      <p:sp>
        <p:nvSpPr>
          <p:cNvPr id="24" name="Text 16"/>
          <p:cNvSpPr/>
          <p:nvPr/>
        </p:nvSpPr>
        <p:spPr>
          <a:xfrm>
            <a:off x="3429000" y="251460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Discovery</a:t>
            </a:r>
            <a:endParaRPr lang="en-US" sz="16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4760" y="3246120"/>
            <a:ext cx="164592" cy="16459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402336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Unit-Based Billing</a:t>
            </a:r>
            <a:endParaRPr lang="en-US" sz="11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94760" y="3566160"/>
            <a:ext cx="164592" cy="16459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402336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 Discovery</a:t>
            </a:r>
            <a:endParaRPr lang="en-US" sz="11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94760" y="3886200"/>
            <a:ext cx="164592" cy="164592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402336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Audit Agent</a:t>
            </a:r>
            <a:endParaRPr lang="en-US" sz="110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94760" y="4206240"/>
            <a:ext cx="164592" cy="164592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402336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Mapping</a:t>
            </a:r>
            <a:endParaRPr lang="en-US" sz="1100" dirty="0"/>
          </a:p>
        </p:txBody>
      </p:sp>
      <p:sp>
        <p:nvSpPr>
          <p:cNvPr id="33" name="Shape 21"/>
          <p:cNvSpPr/>
          <p:nvPr/>
        </p:nvSpPr>
        <p:spPr>
          <a:xfrm>
            <a:off x="6309360" y="1371600"/>
            <a:ext cx="2697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22"/>
          <p:cNvSpPr/>
          <p:nvPr/>
        </p:nvSpPr>
        <p:spPr>
          <a:xfrm>
            <a:off x="6309360" y="1371600"/>
            <a:ext cx="2697480" cy="5486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Shape 23"/>
          <p:cNvSpPr/>
          <p:nvPr/>
        </p:nvSpPr>
        <p:spPr>
          <a:xfrm>
            <a:off x="7287768" y="1554480"/>
            <a:ext cx="640080" cy="640080"/>
          </a:xfrm>
          <a:prstGeom prst="oval">
            <a:avLst/>
          </a:prstGeom>
          <a:solidFill>
            <a:srgbClr val="1E293B"/>
          </a:solidFill>
          <a:ln/>
        </p:spPr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24928" y="1691640"/>
            <a:ext cx="365760" cy="365760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6309360" y="228600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SHIELD</a:t>
            </a:r>
            <a:endParaRPr lang="en-US" sz="800" dirty="0"/>
          </a:p>
        </p:txBody>
      </p:sp>
      <p:sp>
        <p:nvSpPr>
          <p:cNvPr id="38" name="Text 25"/>
          <p:cNvSpPr/>
          <p:nvPr/>
        </p:nvSpPr>
        <p:spPr>
          <a:xfrm>
            <a:off x="6309360" y="251460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Automation</a:t>
            </a:r>
            <a:endParaRPr lang="en-US" sz="1600" dirty="0"/>
          </a:p>
        </p:txBody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75120" y="3246120"/>
            <a:ext cx="164592" cy="164592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690372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Vault (API)</a:t>
            </a:r>
            <a:endParaRPr lang="en-US" sz="1100" dirty="0"/>
          </a:p>
        </p:txBody>
      </p:sp>
      <p:pic>
        <p:nvPicPr>
          <p:cNvPr id="4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75120" y="3566160"/>
            <a:ext cx="164592" cy="164592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690372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Erasure Engine</a:t>
            </a:r>
            <a:endParaRPr lang="en-US" sz="1100" dirty="0"/>
          </a:p>
        </p:txBody>
      </p:sp>
      <p:pic>
        <p:nvPicPr>
          <p:cNvPr id="4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75120" y="3886200"/>
            <a:ext cx="164592" cy="164592"/>
          </a:xfrm>
          <a:prstGeom prst="rect">
            <a:avLst/>
          </a:prstGeom>
        </p:spPr>
      </p:pic>
      <p:sp>
        <p:nvSpPr>
          <p:cNvPr id="44" name="Text 28"/>
          <p:cNvSpPr/>
          <p:nvPr/>
        </p:nvSpPr>
        <p:spPr>
          <a:xfrm>
            <a:off x="690372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War Room</a:t>
            </a:r>
            <a:endParaRPr lang="en-US" sz="1100" dirty="0"/>
          </a:p>
        </p:txBody>
      </p:sp>
      <p:pic>
        <p:nvPicPr>
          <p:cNvPr id="4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75120" y="4206240"/>
            <a:ext cx="164592" cy="164592"/>
          </a:xfrm>
          <a:prstGeom prst="rect">
            <a:avLst/>
          </a:prstGeom>
        </p:spPr>
      </p:pic>
      <p:sp>
        <p:nvSpPr>
          <p:cNvPr id="46" name="Text 29"/>
          <p:cNvSpPr/>
          <p:nvPr/>
        </p:nvSpPr>
        <p:spPr>
          <a:xfrm>
            <a:off x="690372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Response</a:t>
            </a:r>
            <a:endParaRPr lang="en-US" sz="1100" dirty="0"/>
          </a:p>
        </p:txBody>
      </p:sp>
      <p:pic>
        <p:nvPicPr>
          <p:cNvPr id="4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17520" y="2743200"/>
            <a:ext cx="274320" cy="274320"/>
          </a:xfrm>
          <a:prstGeom prst="rect">
            <a:avLst/>
          </a:prstGeom>
        </p:spPr>
      </p:pic>
      <p:pic>
        <p:nvPicPr>
          <p:cNvPr id="4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97880" y="274320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0" y="45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Vernacular Awareness — The Hook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3840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14400"/>
            <a:ext cx="54864" cy="23774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972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051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Jargon Slayer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1508760"/>
            <a:ext cx="3429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that translates DPDPA rules into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scheduled languages using “Founder-speak”.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(Hindi):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“आपको customer को बताना होगा — कौन सा data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ले रहे हो, क्यों, और delete कैसे करें.”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54880" y="914400"/>
            <a:ext cx="3840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914400"/>
            <a:ext cx="54864" cy="23774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1051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3-Minute Trust Check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029200" y="150876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external scanner that identifies: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consent banners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trackers (cookies before consent)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Unencrypted PII in URLs/forms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compliance gaps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3520440"/>
            <a:ext cx="8046720" cy="77724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17" name="Shape 13"/>
          <p:cNvSpPr/>
          <p:nvPr/>
        </p:nvSpPr>
        <p:spPr>
          <a:xfrm>
            <a:off x="548640" y="352044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94176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3520440"/>
            <a:ext cx="7132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Target: 100K scans in 6 months via Product Hunt India, YC India, and founder WhatsApp groups. Every compliance gap found = organic lead for Module 2.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0" y="45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&amp; Discovery — Revenue Driver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14400"/>
            <a:ext cx="54864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234440"/>
            <a:ext cx="502920" cy="502920"/>
          </a:xfrm>
          <a:prstGeom prst="oval">
            <a:avLst/>
          </a:prstGeom>
          <a:solidFill>
            <a:srgbClr val="0D948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1353312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10058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Unit-Based Billing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600200" y="137160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per “Purpose-Linked Data Flow”, not per seat. A pre-seed startup pays for 4–8 flows; a Series-A pays for 15–25. Revenue scales with customer growth.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24028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2240280"/>
            <a:ext cx="54864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560320"/>
            <a:ext cx="502920" cy="502920"/>
          </a:xfrm>
          <a:prstGeom prst="oval">
            <a:avLst/>
          </a:prstGeom>
          <a:solidFill>
            <a:srgbClr val="0D948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2679192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00200" y="23317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 Discovery Engine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600200" y="269748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crawl across AWS, GCP, Azure, Zoho, Razorpay, WhatsApp Business. Discovers “hidden” PII in logs, backups, data lakes. Produces a visual Data Flow Map.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356616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48640" y="3566160"/>
            <a:ext cx="54864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Shape 16"/>
          <p:cNvSpPr/>
          <p:nvPr/>
        </p:nvSpPr>
        <p:spPr>
          <a:xfrm>
            <a:off x="868680" y="3886200"/>
            <a:ext cx="502920" cy="502920"/>
          </a:xfrm>
          <a:prstGeom prst="oval">
            <a:avLst/>
          </a:prstGeom>
          <a:solidFill>
            <a:srgbClr val="0D9488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4005072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00200" y="36576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Contract Audit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600200" y="402336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agent reads vendor contracts in 22 Indian languages. Flags non-compliant data-sharing clauses. Auto-generates compliant DPAs in the vendor’s language.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0" y="45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Automation — The Shield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14400"/>
            <a:ext cx="54864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234440"/>
            <a:ext cx="502920" cy="502920"/>
          </a:xfrm>
          <a:prstGeom prst="oval">
            <a:avLst/>
          </a:prstGeom>
          <a:solidFill>
            <a:srgbClr val="1E293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1353312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10058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Vault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600200" y="137160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API-first consent system. Cryptographic consent artifacts. Granular purpose-level control. Consumer dashboard for managing all consents. Pre-built widgets in 22 languages.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24028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2240280"/>
            <a:ext cx="54864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560320"/>
            <a:ext cx="502920" cy="502920"/>
          </a:xfrm>
          <a:prstGeom prst="oval">
            <a:avLst/>
          </a:prstGeom>
          <a:solidFill>
            <a:srgbClr val="1E293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2679192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00200" y="23317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Erasure Engine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600200" y="269748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retention timelines per Third Schedule (class-specific: 3yr for large e-commerce/social media; purpose-based for SMEs). 48-hour pre-deletion alerts. Verifiable deletion certificates.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356616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48640" y="3566160"/>
            <a:ext cx="54864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Shape 16"/>
          <p:cNvSpPr/>
          <p:nvPr/>
        </p:nvSpPr>
        <p:spPr>
          <a:xfrm>
            <a:off x="868680" y="3886200"/>
            <a:ext cx="502920" cy="502920"/>
          </a:xfrm>
          <a:prstGeom prst="oval">
            <a:avLst/>
          </a:prstGeom>
          <a:solidFill>
            <a:srgbClr val="1E293B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4005072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00200" y="36576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War Room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600200" y="402336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72-hour breach response workflow. DPBI + CERT-In dual reporting. Annual audit report generator. AI-powered regulatory change tracker. One-click DPB notifications.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Design Principles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our Product Designer: the UX philosophy driving every decision.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804672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441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2344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Vernacular-First, Not Translated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23360" y="1234440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designed in Hindi/Tamil FIRST, then adapted to English. Not the reverse. Typography, reading flow, and spacing must work for Devanagari/Tamil scripts.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984248"/>
            <a:ext cx="804672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939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198424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3-Tap Compliance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0" y="1984248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core action (grant consent, withdraw consent, report breach) must be completable in 3 taps or fewer. Reduce cognitive load for non-technical founders.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734056"/>
            <a:ext cx="804672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8437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273405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Disclosure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23360" y="2734056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simple action first; reveal legal detail on demand. Compliance shouldn’t feel overwhelming. The dashboard shows “you’re 70% compliant”, not a 50-point checklist.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483864"/>
            <a:ext cx="804672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5935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25880" y="348386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Through Transparency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023360" y="3483864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 flow is visible. No dark patterns. Consent withdrawal is 1-tap, identical UX to granting. This isn’t just ethics — the DPBI will reject registrations with cumbersome withdrawal flows.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233672"/>
            <a:ext cx="804672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343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25880" y="423367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for Tier 2–3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023360" y="4233672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60%+ of SME owners in Tier 2–3 cities manage business from mobile. The entire compliance workflow must work on a 5.5” screen on a 4G connection.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Ecosystem: The Indian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61288"/>
            <a:ext cx="137160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Data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7M+ businesses. PII discovery across customer masters, employee records (Aadhaar, PAN). Consent-linked data retention for financial PII.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54864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161288"/>
            <a:ext cx="1371600" cy="201168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&amp; Business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8348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83480" y="178308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100M+ users. CRM contacts, Books financials, Desk tickets. Embedded consent widgets in Zoho Forms. Erasure across full Zoho suite.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88036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880360"/>
            <a:ext cx="54864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990088"/>
            <a:ext cx="1371600" cy="201168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77240" y="3246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7240" y="361188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500M+ Indian users. Consent via message templates in regional languages. PII monitoring in customer chats. 1-tap consent withdrawal.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88036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880360"/>
            <a:ext cx="54864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990088"/>
            <a:ext cx="1371600" cy="201168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983480" y="3246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83480" y="361188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KYC data flows. Consent tracking for payment processing purpose. Automated PII discovery in transaction records.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Monetisation Strategy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6012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1463040"/>
                <a:gridCol w="2011680"/>
                <a:gridCol w="19202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Module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Tier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Price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Unit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Target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Awareness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scan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founders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Awareness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₹499/mo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Unlimited scans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founders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₹999/flow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Data 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Pre-seed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₹4,999/mo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15 flows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Seed–Ser. 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₹14,999/mo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Unlimited + Audit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Series B+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Consent Mgmt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₹2,499/mo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10K Data Principals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startups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Consent Mgmt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₹9,999/mo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500K Data Principals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Growth-stage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Consent Mgmt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Unlimited + SLA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SMEs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023360"/>
            <a:ext cx="804672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402336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Target: ₹2–3Cr ARR | 500+ paying customers | ARPU ₹5,000/mo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Mix: Assessment 45% + Consent Management 40% + Awareness Pro 15%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Moat: Three Reinforcing Layers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10515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54864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353312"/>
            <a:ext cx="502920" cy="502920"/>
          </a:xfrm>
          <a:prstGeom prst="oval">
            <a:avLst/>
          </a:prstGeom>
          <a:solidFill>
            <a:srgbClr val="0D948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472184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11430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Registration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600200" y="150876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DPBI-registered Consent Manager = licensed intermediary. Limited registrations in Year 1. Re-registration with competitor requires full regulatory process.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331720"/>
            <a:ext cx="8046720" cy="10515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2331720"/>
            <a:ext cx="54864" cy="1051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Shape 10"/>
          <p:cNvSpPr/>
          <p:nvPr/>
        </p:nvSpPr>
        <p:spPr>
          <a:xfrm>
            <a:off x="868680" y="2587752"/>
            <a:ext cx="502920" cy="502920"/>
          </a:xfrm>
          <a:prstGeom prst="oval">
            <a:avLst/>
          </a:prstGeom>
          <a:solidFill>
            <a:srgbClr val="10B98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706624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00200" y="23774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Network Effects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600200" y="274320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 Principal on TrustStack increases value for all connected Data Fiduciaries. Consent records are infrastructure — migrating millions of verifiable records is near-impossible.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3566160"/>
            <a:ext cx="8046720" cy="10515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4"/>
          <p:cNvSpPr/>
          <p:nvPr/>
        </p:nvSpPr>
        <p:spPr>
          <a:xfrm>
            <a:off x="548640" y="3566160"/>
            <a:ext cx="54864" cy="1051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Shape 15"/>
          <p:cNvSpPr/>
          <p:nvPr/>
        </p:nvSpPr>
        <p:spPr>
          <a:xfrm>
            <a:off x="868680" y="3822192"/>
            <a:ext cx="502920" cy="502920"/>
          </a:xfrm>
          <a:prstGeom prst="oval">
            <a:avLst/>
          </a:prstGeom>
          <a:solidFill>
            <a:srgbClr val="F59E0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941064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00200" y="36118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Vernacular AI Moat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600200" y="397764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models on Indian regulatory + business language corpora. 22-language accuracy. Competitors need years of training data, cultural context, and human validation.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 for decision-makers.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731520"/>
                <a:gridCol w="47548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Risk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Impact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Mitigation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DPBI delays registration beyond Nov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Modules 1–2 are revenue-generating without CM registration. Consent Vault can operate as a SaaS tool pre-registration.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₹2Cr net worth requirement is steep for a startup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 round must factor in statutory capital. Alternatively, partner with an existing registered entity initially.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Dual-role conflict: AI Discovery + Consent Manager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Architecturally separated: Discovery agent runs in sandboxed environment with no access to consent data. Separate legal entities if needed.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SME awareness delays adoption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Trust Check tool drives awareness virally. CA/law firm channel partnerships educate Tier 2–3.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Cross-border data hosting complications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consent records on AWS Mumbai / GCP Mumbai. Hybrid architecture for regulator accessibility.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Timeline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2697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2697480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Community-Led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Q2–Q3 2026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164592" cy="1645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22677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Trust Check (free)</a:t>
            </a:r>
            <a:endParaRPr lang="en-US" sz="10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164592" cy="164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26791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YC India, Razorpay Rize</a:t>
            </a:r>
            <a:endParaRPr lang="en-US" sz="10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154680"/>
            <a:ext cx="164592" cy="1645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30906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Jargon Slayer content in Hindi/Tamil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566160"/>
            <a:ext cx="164592" cy="16459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35021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100K scans, 10K users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3429000" y="1005840"/>
            <a:ext cx="2697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3429000" y="1005840"/>
            <a:ext cx="2697480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3"/>
          <p:cNvSpPr/>
          <p:nvPr/>
        </p:nvSpPr>
        <p:spPr>
          <a:xfrm>
            <a:off x="3429000" y="105156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3429000" y="12801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3429000" y="1828800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2026–Q1 2027</a:t>
            </a:r>
            <a:endParaRPr lang="en-US" sz="9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2331720"/>
            <a:ext cx="164592" cy="16459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977640" y="22677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Trust Check → Assessment</a:t>
            </a:r>
            <a:endParaRPr lang="en-US" sz="10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3320" y="2743200"/>
            <a:ext cx="164592" cy="16459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977640" y="26791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Vault beta launch</a:t>
            </a:r>
            <a:endParaRPr lang="en-US" sz="105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3320" y="3154680"/>
            <a:ext cx="164592" cy="16459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3977640" y="30906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DPBI registration</a:t>
            </a:r>
            <a:endParaRPr lang="en-US" sz="105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3566160"/>
            <a:ext cx="164592" cy="164592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3977640" y="35021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CA/law firm channel partners</a:t>
            </a:r>
            <a:endParaRPr lang="en-US" sz="1050" dirty="0"/>
          </a:p>
        </p:txBody>
      </p:sp>
      <p:sp>
        <p:nvSpPr>
          <p:cNvPr id="30" name="Shape 20"/>
          <p:cNvSpPr/>
          <p:nvPr/>
        </p:nvSpPr>
        <p:spPr>
          <a:xfrm>
            <a:off x="6309360" y="1005840"/>
            <a:ext cx="2697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1"/>
          <p:cNvSpPr/>
          <p:nvPr/>
        </p:nvSpPr>
        <p:spPr>
          <a:xfrm>
            <a:off x="6309360" y="1005840"/>
            <a:ext cx="269748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2" name="Text 22"/>
          <p:cNvSpPr/>
          <p:nvPr/>
        </p:nvSpPr>
        <p:spPr>
          <a:xfrm>
            <a:off x="6309360" y="105156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33" name="Text 23"/>
          <p:cNvSpPr/>
          <p:nvPr/>
        </p:nvSpPr>
        <p:spPr>
          <a:xfrm>
            <a:off x="6309360" y="12801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500" dirty="0"/>
          </a:p>
        </p:txBody>
      </p:sp>
      <p:sp>
        <p:nvSpPr>
          <p:cNvPr id="34" name="Text 24"/>
          <p:cNvSpPr/>
          <p:nvPr/>
        </p:nvSpPr>
        <p:spPr>
          <a:xfrm>
            <a:off x="6309360" y="1828800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2027+</a:t>
            </a:r>
            <a:endParaRPr lang="en-US" sz="90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0" y="2331720"/>
            <a:ext cx="164592" cy="16459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858000" y="22677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enforcement (May 13, 2027)</a:t>
            </a:r>
            <a:endParaRPr lang="en-US" sz="1050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0" y="2743200"/>
            <a:ext cx="164592" cy="164592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6858000" y="26791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500+ paying customers</a:t>
            </a:r>
            <a:endParaRPr lang="en-US" sz="1050" dirty="0"/>
          </a:p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680" y="3154680"/>
            <a:ext cx="164592" cy="164592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6858000" y="30906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integrations</a:t>
            </a:r>
            <a:endParaRPr lang="en-US" sz="1050" dirty="0"/>
          </a:p>
        </p:txBody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3680" y="3566160"/>
            <a:ext cx="164592" cy="164592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6858000" y="35021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RBI/SEBI/IRDAI</a:t>
            </a:r>
            <a:endParaRPr lang="en-US" sz="1050" dirty="0"/>
          </a:p>
        </p:txBody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17520" y="1371600"/>
            <a:ext cx="274320" cy="274320"/>
          </a:xfrm>
          <a:prstGeom prst="rect">
            <a:avLst/>
          </a:prstGeom>
        </p:spPr>
      </p:pic>
      <p:pic>
        <p:nvPicPr>
          <p:cNvPr id="4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97880" y="137160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36576" cy="5143500"/>
          </a:xfrm>
          <a:prstGeom prst="rect">
            <a:avLst/>
          </a:prstGeom>
          <a:solidFill>
            <a:srgbClr val="14B8A6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The Ask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1828800" cy="274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63040"/>
            <a:ext cx="11887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03120" y="1463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entity. Establish ₹2Cr net worth. Begin DPBI pre-engagement.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11887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574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2057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Trust Check beta + Jargon Slayer MVP. Community acquisition begins.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651760"/>
            <a:ext cx="11887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6517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2651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Consent Manager registration. Consent Vault + Assessment launch.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246120"/>
            <a:ext cx="11887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46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3246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full platform. Onboard first 100 paying customers.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840480"/>
            <a:ext cx="11887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8404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2027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03120" y="3840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day. Full-stack compliance platform live. Target 500+ customers.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206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India’s SMEs need a compliance partner that speaks their language,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their budget, and grows with them. TrustStack is that partner.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TrustStack - DPDPA Compliance Suite Proposal</dc:title>
  <dc:subject>PptxGenJS Presentation</dc:subject>
  <dc:creator>TrustStack</dc:creator>
  <cp:lastModifiedBy>TrustStack</cp:lastModifiedBy>
  <cp:revision>1</cp:revision>
  <dcterms:created xsi:type="dcterms:W3CDTF">2026-04-13T18:51:24Z</dcterms:created>
  <dcterms:modified xsi:type="dcterms:W3CDTF">2026-04-13T18:51:24Z</dcterms:modified>
</cp:coreProperties>
</file>